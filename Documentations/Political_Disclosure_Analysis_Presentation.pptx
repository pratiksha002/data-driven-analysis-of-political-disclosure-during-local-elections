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173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82880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ANALYSIS OF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POLITICAL DISCLOSURE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kern="0" spc="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LOCAL ELECTIONS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 of the 2026 BMC Election — Borivali &amp; Kandivali Wards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4709160"/>
            <a:ext cx="2286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937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Field Project — B.Sc. Data Science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University, Mumbai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Pratiksha Pawar – 70     .      Srushti Patil – 69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585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Hypotheses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8712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9169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 Approach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5295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5753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Disclosure Analysis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18795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33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Win-Prediction Model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8463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892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Perception Study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" y="550468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504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550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Discussion, Limitations &amp; Conclusion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Introduction: 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election law requires every candidate to publicly disclose their criminal record, assets &amp; liabilities, and education in a sworn affidavit.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two questions remain largely untested at the local body level: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731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35661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disclosed information actually predict who wins?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251960"/>
            <a:ext cx="731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42519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voters even aware of it — and does awareness change their opinion?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32320" y="15544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0664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2286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BMC Election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880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Borivali + Kandivali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(Wards 8–28, 21 wards)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0" y="3840480"/>
            <a:ext cx="37490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linked studies: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4434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disclosure → win prediction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awareness → perception shift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Background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candidates must disclose this information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 (Union of India v. ADR): voters' right to information includes candidate background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2148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7432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Commission &amp; State Election Commissions mandate a standardized disclosure affidavit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49640" y="2148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7432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local body elections too — including BMC 2026, verified directly from a real affidavit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1848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structured candidate disclosure dataset for the ward cluster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487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5973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validate a model predicting electoral outcome from disclosure profile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3284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328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30098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voter perception study measuring awareness and favorability shift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1696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422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prior awareness moderates the impact of disclosure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5010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010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9834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both studies into one coherent account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914400" cy="82296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3716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profile (party, assets, education, criminal record) significantly predicts electoral outcome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914400" cy="82296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5146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5146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record disclosure has a negative association with winning, independent of party and wealth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914400" cy="82296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6576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6576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disclosure information produces a significant shift in voter favorability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914400" cy="82296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8006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8006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awareness moderates this shift — new information moves opinion more than confirming known facts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Design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521208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286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Disclosure Analysis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2608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145 candidates, 21 wards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Descriptive stats + logistic regression (cross-validated)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Win-prediction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645920"/>
            <a:ext cx="5212080" cy="137160"/>
          </a:xfrm>
          <a:prstGeom prst="rect">
            <a:avLst/>
          </a:prstGeom>
          <a:solidFill>
            <a:srgbClr val="2F54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286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Voter Perception Study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92608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210 survey respondents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Before/after design, t-test + OLS regression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Favorability shift, awareness effect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via: each respondent is matched to a real (simulated) candidate from their own ward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Municipal Wards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669280" cy="640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R/Central (Borivali)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286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 8–17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2286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wards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5669280" cy="640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063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R/South (Kandivali)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063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 18–28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0632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wards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scope?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6177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for a solo researcher, one semester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local familiarity aids data verification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mix of gender/caste ward reservation categories</a:t>
            </a:r>
            <a:endParaRPr lang="en-US" sz="1300" dirty="0"/>
          </a:p>
        </p:txBody>
      </p:sp>
      <p:pic>
        <p:nvPicPr>
          <p:cNvPr id="14" name="Image 0" descr="../report_visuals/04_ward_reser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737360"/>
            <a:ext cx="4846320" cy="298473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Data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FFF3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55448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A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All candidate and respondent data in this project is SIMULATED — calibrated against real published statistics, and explicitly approved by the project guide.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402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affidavit collection from Maharashtra SEC portal — confirmed genuine, machine-readable documents exist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7947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AJAX portal, partial affidavit availability (~50% in sampled ward) — not feasible at full scale in one semester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64040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640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pivot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37947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dataset, rigorously calibrated against real ADR statistics &amp; real 2026 BMC seat shares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Disclosures: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candidates across 21 wards</a:t>
            </a:r>
            <a:endParaRPr lang="en-US" sz="1500" dirty="0"/>
          </a:p>
        </p:txBody>
      </p:sp>
      <p:pic>
        <p:nvPicPr>
          <p:cNvPr id="4" name="Image 0" descr="../report_visuals/01_criminal_cases_by_par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6400800" cy="394463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9202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8096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21.4%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834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declared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case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98080" y="37490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38404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79.3%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663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crorepatis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(≥ ₹1 Cr assets)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5577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against ADR's real published BMC 2026 statistics (24% / 79%)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Disclosures: Education &amp; Reservation</a:t>
            </a:r>
            <a:endParaRPr lang="en-US" sz="3000" dirty="0"/>
          </a:p>
        </p:txBody>
      </p:sp>
      <p:pic>
        <p:nvPicPr>
          <p:cNvPr id="3" name="Image 0" descr="../report_visuals/03_education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5120640" cy="4193876"/>
          </a:xfrm>
          <a:prstGeom prst="rect">
            <a:avLst/>
          </a:prstGeom>
        </p:spPr>
      </p:pic>
      <p:pic>
        <p:nvPicPr>
          <p:cNvPr id="4" name="Image 1" descr="../report_visuals/02_asse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5120640" cy="315368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candidates in this cluster are women — a genuine structural effect of ward reservation policy, not a data artifact.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Win-Prediction Model: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disclosure alone predict who wins?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2631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490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interpretability — coefficients show direction &amp; magnitude of each feature's effect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263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148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5603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Party, assets, income,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education, criminal severity, age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7490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derived from the affidavit's standardized "Summary" section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2631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2148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5603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5-Fold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7490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imbalanced sample (~14.5% winners) needs robust, not single-split, evaluation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Win-Prediction Model: Results</a:t>
            </a:r>
            <a:endParaRPr lang="en-US" sz="3000" dirty="0"/>
          </a:p>
        </p:txBody>
      </p:sp>
      <p:pic>
        <p:nvPicPr>
          <p:cNvPr id="3" name="Image 0" descr="../report_visuals/07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5120640" cy="43687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17373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9224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23544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0.738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09360" y="3886200"/>
            <a:ext cx="52120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39593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235440" y="3959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0.341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09360" y="4416552"/>
            <a:ext cx="52120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448970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235440" y="44897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309360" y="4946904"/>
            <a:ext cx="52120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0" y="502005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235440" y="50200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09360" y="5477256"/>
            <a:ext cx="52120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09360" y="57607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prioritized over precision (class_weight='balanced') given only ~14.5% of candidates win.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Win-Prediction Model: What Matters Most</a:t>
            </a:r>
            <a:endParaRPr lang="en-US" sz="3000" dirty="0"/>
          </a:p>
        </p:txBody>
      </p:sp>
      <p:pic>
        <p:nvPicPr>
          <p:cNvPr id="3" name="Image 0" descr="../report_visuals/06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7214160" cy="4754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95360" y="210312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affiliation dominates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 &amp; assets → higher win probability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severity → lower win probability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H1 &amp; H2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Voter Perception Study: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before/after paired design, 210 respondents matched to real (simulated) candidates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2631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4688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favorability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(1–10)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10128" y="2468880"/>
            <a:ext cx="320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0" y="246888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2631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24688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(Yes/No)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144768" y="2468880"/>
            <a:ext cx="320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92240" y="246888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E76F5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4688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979408" y="2468880"/>
            <a:ext cx="320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26880" y="246888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2631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6880" y="24688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Post-exposure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favorability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(1–10)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(not random) effects built into the simulation: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166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criminal cases reduce favorability more than minor ones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 is larger when the respondent was NOT already aware (tests H4)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has a small, deliberately ambiguous effect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Voter Awareness: The Baseline Problem</a:t>
            </a:r>
            <a:endParaRPr lang="en-US" sz="3000" dirty="0"/>
          </a:p>
        </p:txBody>
      </p:sp>
      <p:pic>
        <p:nvPicPr>
          <p:cNvPr id="3" name="Image 0" descr="../report_visuals/10_awareness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4572000" cy="3553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210312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E76F5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583680" y="22860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75.7%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3383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voters were unaware of a candidate's disclosures before exposure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45720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is the core motivation for testing whether awareness itself changes disclosure's impact.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Exposure Change Favorability?</a:t>
            </a:r>
            <a:endParaRPr lang="en-US" sz="3000" dirty="0"/>
          </a:p>
        </p:txBody>
      </p:sp>
      <p:pic>
        <p:nvPicPr>
          <p:cNvPr id="3" name="Image 0" descr="../report_visuals/08_favorability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5358919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66560" y="210312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949440" y="21945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−0.39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2880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favorability change (points)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4160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−4.69,  p &lt; 0.0001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4709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shift — supports H3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Awareness Moderates Impact</a:t>
            </a:r>
            <a:endParaRPr lang="en-US" sz="2700" dirty="0"/>
          </a:p>
        </p:txBody>
      </p:sp>
      <p:pic>
        <p:nvPicPr>
          <p:cNvPr id="3" name="Image 0" descr="../report_visuals/09_awareness_mod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5120640" cy="437998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155448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E76F5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583680" y="1645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−3.72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2423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favorability change — NOT already aware (new information)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365760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26317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83680" y="37490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−0.99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45262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favorability change — already aware beforehand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regression (controlling for other factors): β = +0.494, p = 0.0015 — supports H4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Putting It Together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record hurts win probability (Model) — but low awareness may explain why the penalty isn't larger in practice (Perception Study).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0515600" cy="3017520"/>
          </a:xfrm>
          <a:prstGeom prst="roundRect">
            <a:avLst>
              <a:gd name="adj" fmla="val 303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3017520"/>
            <a:ext cx="9784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transparency ≠ functional transparency — the disclosure requirement exists, but only works if voters actually see it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regimes may need active voter-education, not just legal filing requirements, especially at the local body level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hypothesis generated by this study's design — worth testing against real data, not an established fact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Simulated, not field-collected data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sample sizes (145 / 210)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 data not incorporated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effect built into simulation design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80760" y="1645920"/>
            <a:ext cx="0" cy="365760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01168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real-data collection via the SEC portal scraper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actual Google Form survey with real residents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model to all 227 BMC wards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expenditure disclosure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31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Win-prediction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182880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31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34840" y="19659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75.7%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9718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Voters unaware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disclosures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82880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31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0" y="19659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3.7×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9718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favorability drop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newly informed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976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extensible pipeline — calibrated simulation, cross-validated ML, and statistical perception analysis — ready to run on real affidavit and survey data once full-scale collection is feasible.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46760" y="3890866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Pratiksha Pawar – 70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Srushti Patil – 69</a:t>
            </a:r>
          </a:p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1208</Words>
  <Application>Microsoft Office PowerPoint</Application>
  <PresentationFormat>Widescreen</PresentationFormat>
  <Paragraphs>249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Pratiksha P</cp:lastModifiedBy>
  <cp:revision>2</cp:revision>
  <dcterms:created xsi:type="dcterms:W3CDTF">2026-09-13T14:01:28Z</dcterms:created>
  <dcterms:modified xsi:type="dcterms:W3CDTF">2026-09-13T14:08:52Z</dcterms:modified>
</cp:coreProperties>
</file>